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86" r:id="rId7"/>
    <p:sldId id="288" r:id="rId8"/>
    <p:sldId id="289" r:id="rId9"/>
    <p:sldId id="297" r:id="rId10"/>
    <p:sldId id="290" r:id="rId11"/>
    <p:sldId id="291" r:id="rId12"/>
    <p:sldId id="292" r:id="rId13"/>
    <p:sldId id="295" r:id="rId14"/>
    <p:sldId id="294" r:id="rId15"/>
    <p:sldId id="29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46" autoAdjust="0"/>
  </p:normalViewPr>
  <p:slideViewPr>
    <p:cSldViewPr snapToGrid="0">
      <p:cViewPr>
        <p:scale>
          <a:sx n="66" d="100"/>
          <a:sy n="66" d="100"/>
        </p:scale>
        <p:origin x="668" y="28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5" r:id="rId9"/>
    <p:sldLayoutId id="2147483677" r:id="rId10"/>
    <p:sldLayoutId id="2147483676" r:id="rId11"/>
    <p:sldLayoutId id="2147483661" r:id="rId12"/>
    <p:sldLayoutId id="2147483666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812" y="675364"/>
            <a:ext cx="7669162" cy="3830130"/>
          </a:xfrm>
        </p:spPr>
        <p:txBody>
          <a:bodyPr/>
          <a:lstStyle/>
          <a:p>
            <a:r>
              <a:rPr lang="en-US" dirty="0"/>
              <a:t>Sales Forecasting and Data Analysis using Regression and Correlation in Excel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44102-6186-AF5B-1E61-73706C445BF0}"/>
              </a:ext>
            </a:extLst>
          </p:cNvPr>
          <p:cNvSpPr txBox="1"/>
          <p:nvPr/>
        </p:nvSpPr>
        <p:spPr>
          <a:xfrm>
            <a:off x="6646607" y="4857135"/>
            <a:ext cx="44245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SUBJECT: PE24215</a:t>
            </a:r>
          </a:p>
          <a:p>
            <a:r>
              <a:rPr lang="en-IN" b="1" dirty="0"/>
              <a:t>Quantitative Techniques for Data Analysis</a:t>
            </a:r>
          </a:p>
          <a:p>
            <a:r>
              <a:rPr lang="en-IN" b="1" dirty="0"/>
              <a:t>BRANCH: PIE</a:t>
            </a:r>
          </a:p>
          <a:p>
            <a:r>
              <a:rPr lang="en-IN" b="1" dirty="0"/>
              <a:t>SEM: IV</a:t>
            </a:r>
          </a:p>
          <a:p>
            <a:r>
              <a:rPr lang="en-IN" b="1" dirty="0"/>
              <a:t>Submitted to: Dr. Suman Samanta</a:t>
            </a:r>
          </a:p>
          <a:p>
            <a:r>
              <a:rPr lang="en-IN" b="1" dirty="0"/>
              <a:t>COLLEGE NAME: BIT MESRA,RANCHI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1699FB-4FDF-745C-ABEC-B8940419F2C0}"/>
              </a:ext>
            </a:extLst>
          </p:cNvPr>
          <p:cNvSpPr txBox="1"/>
          <p:nvPr/>
        </p:nvSpPr>
        <p:spPr>
          <a:xfrm>
            <a:off x="2310581" y="4857135"/>
            <a:ext cx="46604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Submitted By: GROUP 2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Aarav Gupta BTECH/11087/24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Maitreyi Pandey BTECH/11035/24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Aman Agrawal BTECH/11034/24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Pinak Wakhedkar BTECH/11071/24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Parth More BTECH/10658/24</a:t>
            </a:r>
          </a:p>
          <a:p>
            <a:r>
              <a:rPr lang="en-IN" dirty="0"/>
              <a:t>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Objective of the Study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Dataset Description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Key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Insights and Recommendations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993" y="79310"/>
            <a:ext cx="5486400" cy="1401097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15382-1B1D-BAC2-0809-3AE13839675A}"/>
              </a:ext>
            </a:extLst>
          </p:cNvPr>
          <p:cNvSpPr txBox="1"/>
          <p:nvPr/>
        </p:nvSpPr>
        <p:spPr>
          <a:xfrm>
            <a:off x="393291" y="1927122"/>
            <a:ext cx="558472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Sales forecasting helps organizations predict future demand using historical data and statistical techniques.</a:t>
            </a:r>
          </a:p>
          <a:p>
            <a:r>
              <a:rPr lang="en-US" dirty="0"/>
              <a:t>This project analyses the relationship between: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Marketing Spend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Price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</a:t>
            </a:r>
          </a:p>
          <a:p>
            <a:r>
              <a:rPr lang="en-US" dirty="0"/>
              <a:t>using: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Correlation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Regression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Trend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Forecasting techniques in Excel.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08D97A-B1AD-DC98-6C10-B2A30E35C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723" y="1927121"/>
            <a:ext cx="6489289" cy="49308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07B1A3-54E5-ABC8-461C-E92DFEBFA5F7}"/>
              </a:ext>
            </a:extLst>
          </p:cNvPr>
          <p:cNvSpPr txBox="1"/>
          <p:nvPr/>
        </p:nvSpPr>
        <p:spPr>
          <a:xfrm>
            <a:off x="7924799" y="1557788"/>
            <a:ext cx="4149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RAW DATASET</a:t>
            </a:r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anchor="b">
            <a:normAutofit/>
          </a:bodyPr>
          <a:lstStyle/>
          <a:p>
            <a:r>
              <a:rPr lang="en-US" sz="5400" dirty="0"/>
              <a:t>Objectives of the Study</a:t>
            </a:r>
            <a:endParaRPr lang="en-US" dirty="0"/>
          </a:p>
        </p:txBody>
      </p:sp>
      <p:pic>
        <p:nvPicPr>
          <p:cNvPr id="7" name="Picture Placeholder 6" descr="Person doing presentation">
            <a:extLst>
              <a:ext uri="{FF2B5EF4-FFF2-40B4-BE49-F238E27FC236}">
                <a16:creationId xmlns:a16="http://schemas.microsoft.com/office/drawing/2014/main" id="{8E07FF9B-282D-B2A9-DBFC-E28A332383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67493" y="2133977"/>
            <a:ext cx="4663440" cy="3112846"/>
          </a:xfr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/>
          <a:p>
            <a:r>
              <a:rPr lang="en-US" sz="1700" b="1"/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/>
              <a:t>To clean the dataset using Box &amp; Whisker Plot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/>
              <a:t>To identify outliers in sales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/>
              <a:t>To measure correlation among 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/>
              <a:t>To build a regression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/>
              <a:t>To forecast future sales demand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/>
              <a:t>To provide managerial insights and recommendations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217" y="467872"/>
            <a:ext cx="9779183" cy="1600835"/>
          </a:xfrm>
        </p:spPr>
        <p:txBody>
          <a:bodyPr/>
          <a:lstStyle/>
          <a:p>
            <a:r>
              <a:rPr lang="en-US" dirty="0"/>
              <a:t>Dataset Description and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3169213" cy="4013557"/>
          </a:xfrm>
        </p:spPr>
        <p:txBody>
          <a:bodyPr>
            <a:normAutofit fontScale="92500" lnSpcReduction="10000"/>
          </a:bodyPr>
          <a:lstStyle/>
          <a:p>
            <a:pPr marL="59436" indent="0">
              <a:buNone/>
            </a:pPr>
            <a:r>
              <a:rPr lang="en-US" b="1" dirty="0"/>
              <a:t>Dataset contains:                                              </a:t>
            </a:r>
          </a:p>
          <a:p>
            <a:r>
              <a:rPr lang="en-US" dirty="0"/>
              <a:t>Year </a:t>
            </a:r>
          </a:p>
          <a:p>
            <a:r>
              <a:rPr lang="en-US" dirty="0"/>
              <a:t>Month </a:t>
            </a:r>
          </a:p>
          <a:p>
            <a:r>
              <a:rPr lang="en-US" dirty="0"/>
              <a:t>SKU </a:t>
            </a:r>
          </a:p>
          <a:p>
            <a:r>
              <a:rPr lang="en-US" dirty="0"/>
              <a:t>Marketing Spend </a:t>
            </a:r>
          </a:p>
          <a:p>
            <a:r>
              <a:rPr lang="en-US" dirty="0"/>
              <a:t>Product Price </a:t>
            </a:r>
          </a:p>
          <a:p>
            <a:r>
              <a:rPr lang="en-US" dirty="0"/>
              <a:t>Sales Units</a:t>
            </a:r>
          </a:p>
          <a:p>
            <a:pPr marL="59436" indent="0">
              <a:buNone/>
            </a:pPr>
            <a:r>
              <a:rPr lang="en-US" b="1" dirty="0"/>
              <a:t>Total Records:</a:t>
            </a:r>
          </a:p>
          <a:p>
            <a:r>
              <a:rPr lang="en-US" dirty="0"/>
              <a:t>351 observations</a:t>
            </a:r>
          </a:p>
          <a:p>
            <a:pPr marL="59436" indent="0">
              <a:buNone/>
            </a:pPr>
            <a:r>
              <a:rPr lang="en-US" b="1" dirty="0"/>
              <a:t>Software Used:</a:t>
            </a:r>
          </a:p>
          <a:p>
            <a:r>
              <a:rPr lang="en-US" dirty="0"/>
              <a:t>Microsoft Excel</a:t>
            </a:r>
          </a:p>
          <a:p>
            <a:pPr marL="59436" indent="0">
              <a:buNone/>
            </a:pPr>
            <a:endParaRPr lang="en-US" dirty="0"/>
          </a:p>
          <a:p>
            <a:pPr marL="59436" indent="0">
              <a:buNone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037CB9-A46B-3E27-F67B-54F1B1754455}"/>
              </a:ext>
            </a:extLst>
          </p:cNvPr>
          <p:cNvSpPr txBox="1"/>
          <p:nvPr/>
        </p:nvSpPr>
        <p:spPr>
          <a:xfrm>
            <a:off x="5712542" y="2652713"/>
            <a:ext cx="53126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Problem Statement</a:t>
            </a:r>
          </a:p>
          <a:p>
            <a:r>
              <a:rPr lang="en-US" sz="2000" dirty="0">
                <a:solidFill>
                  <a:schemeClr val="bg1"/>
                </a:solidFill>
              </a:rPr>
              <a:t>The company wants to analyze historical sales data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Identify outliers and clean the dataset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Understand relationship between sales, marketing spend, and price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Develop a regression forecasting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Predict future sales demand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Support better business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245912" cy="2507226"/>
          </a:xfrm>
        </p:spPr>
        <p:txBody>
          <a:bodyPr/>
          <a:lstStyle/>
          <a:p>
            <a:r>
              <a:rPr lang="en-US" dirty="0"/>
              <a:t>DATA CLEANING USING BOX &amp; WHISKER PLOT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C8177-F0B6-B02C-3682-183D8307E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61186"/>
            <a:ext cx="6245912" cy="3195485"/>
          </a:xfrm>
        </p:spPr>
        <p:txBody>
          <a:bodyPr/>
          <a:lstStyle/>
          <a:p>
            <a:r>
              <a:rPr lang="en-IN" sz="1600" b="1" dirty="0"/>
              <a:t>Outlier Detection</a:t>
            </a:r>
          </a:p>
          <a:p>
            <a:r>
              <a:rPr lang="en-IN" sz="1600" dirty="0"/>
              <a:t>Box &amp; Whisker Plot was used to identify extreme values in sales data.</a:t>
            </a:r>
          </a:p>
          <a:p>
            <a:r>
              <a:rPr lang="en-IN" sz="1600" dirty="0"/>
              <a:t>Outliers were detected using:</a:t>
            </a:r>
          </a:p>
          <a:p>
            <a:r>
              <a:rPr lang="en-IN" sz="1600" dirty="0"/>
              <a:t>Quartiles </a:t>
            </a:r>
          </a:p>
          <a:p>
            <a:r>
              <a:rPr lang="en-IN" sz="1600" dirty="0"/>
              <a:t>Interquartile Range (IQR) </a:t>
            </a:r>
          </a:p>
          <a:p>
            <a:r>
              <a:rPr lang="en-IN" sz="1600" b="1" dirty="0"/>
              <a:t>Formula:</a:t>
            </a:r>
          </a:p>
          <a:p>
            <a:r>
              <a:rPr lang="en-IN" sz="1600" dirty="0"/>
              <a:t>IQR = Q3 − Q1</a:t>
            </a:r>
          </a:p>
          <a:p>
            <a:r>
              <a:rPr lang="en-IN" sz="1600" dirty="0"/>
              <a:t>Outliers were removed to improve forecasting accuracy.</a:t>
            </a:r>
          </a:p>
          <a:p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E26E29-809A-0340-337E-0CA8274D6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886" y="328180"/>
            <a:ext cx="6373114" cy="6201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7"/>
            <a:ext cx="9601200" cy="709048"/>
          </a:xfrm>
        </p:spPr>
        <p:txBody>
          <a:bodyPr/>
          <a:lstStyle/>
          <a:p>
            <a:r>
              <a:rPr lang="en-IN" dirty="0"/>
              <a:t>CORRELATION ANALYSIS</a:t>
            </a:r>
            <a:endParaRPr lang="en-US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9B511C5B-1B52-41A9-B597-736BA984B5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1193915"/>
              </p:ext>
            </p:extLst>
          </p:nvPr>
        </p:nvGraphicFramePr>
        <p:xfrm>
          <a:off x="580103" y="1527273"/>
          <a:ext cx="4664074" cy="1622322"/>
        </p:xfrm>
        <a:graphic>
          <a:graphicData uri="http://schemas.openxmlformats.org/drawingml/2006/table">
            <a:tbl>
              <a:tblPr/>
              <a:tblGrid>
                <a:gridCol w="2644878">
                  <a:extLst>
                    <a:ext uri="{9D8B030D-6E8A-4147-A177-3AD203B41FA5}">
                      <a16:colId xmlns:a16="http://schemas.microsoft.com/office/drawing/2014/main" val="2673186289"/>
                    </a:ext>
                  </a:extLst>
                </a:gridCol>
                <a:gridCol w="2019196">
                  <a:extLst>
                    <a:ext uri="{9D8B030D-6E8A-4147-A177-3AD203B41FA5}">
                      <a16:colId xmlns:a16="http://schemas.microsoft.com/office/drawing/2014/main" val="3415115196"/>
                    </a:ext>
                  </a:extLst>
                </a:gridCol>
              </a:tblGrid>
              <a:tr h="540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Variables</a:t>
                      </a:r>
                    </a:p>
                  </a:txBody>
                  <a:tcPr marL="37313" marR="37313" marT="18656" marB="186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Correlation</a:t>
                      </a:r>
                    </a:p>
                  </a:txBody>
                  <a:tcPr marL="37313" marR="37313" marT="18656" marB="186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914081"/>
                  </a:ext>
                </a:extLst>
              </a:tr>
              <a:tr h="540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Marketing Spend &amp; Sales</a:t>
                      </a:r>
                    </a:p>
                  </a:txBody>
                  <a:tcPr marL="37313" marR="37313" marT="18656" marB="186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0.9804</a:t>
                      </a:r>
                    </a:p>
                  </a:txBody>
                  <a:tcPr marL="37313" marR="37313" marT="18656" marB="186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718228"/>
                  </a:ext>
                </a:extLst>
              </a:tr>
              <a:tr h="540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Price &amp; Sales</a:t>
                      </a:r>
                    </a:p>
                  </a:txBody>
                  <a:tcPr marL="37313" marR="37313" marT="18656" marB="186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-0.0899</a:t>
                      </a:r>
                    </a:p>
                  </a:txBody>
                  <a:tcPr marL="37313" marR="37313" marT="18656" marB="186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051443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653548" y="845576"/>
            <a:ext cx="6297679" cy="2583424"/>
          </a:xfrm>
        </p:spPr>
        <p:txBody>
          <a:bodyPr>
            <a:noAutofit/>
          </a:bodyPr>
          <a:lstStyle/>
          <a:p>
            <a:r>
              <a:rPr lang="en-US" sz="1400" b="1" dirty="0"/>
              <a:t>Interpretation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Marketing Spend has a very strong positive relationship with sales.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Price has a weak negative relationship with sales.</a:t>
            </a:r>
          </a:p>
          <a:p>
            <a:r>
              <a:rPr lang="en-US" sz="1400" b="1" dirty="0"/>
              <a:t>R Square Analysis</a:t>
            </a:r>
          </a:p>
          <a:p>
            <a:r>
              <a:rPr lang="en-US" sz="1400" dirty="0"/>
              <a:t>R² ≈ 0.97</a:t>
            </a:r>
          </a:p>
          <a:p>
            <a:r>
              <a:rPr lang="en-US" sz="1400" dirty="0"/>
              <a:t>This means:</a:t>
            </a:r>
            <a:br>
              <a:rPr lang="en-US" sz="1400" dirty="0"/>
            </a:br>
            <a:r>
              <a:rPr lang="en-US" sz="1400" dirty="0"/>
              <a:t>97% variation in sales is explained by marketing spend and price.</a:t>
            </a:r>
          </a:p>
          <a:p>
            <a:r>
              <a:rPr lang="en-US" sz="1400" dirty="0"/>
              <a:t>The regression model is highly reliable for forecasting.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0E045F-51D4-CB76-B3E9-D4F18032AE59}"/>
              </a:ext>
            </a:extLst>
          </p:cNvPr>
          <p:cNvSpPr txBox="1"/>
          <p:nvPr/>
        </p:nvSpPr>
        <p:spPr>
          <a:xfrm>
            <a:off x="481780" y="986369"/>
            <a:ext cx="82885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Correlation 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0440D-F812-3A35-9459-85502212E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72" y="3244645"/>
            <a:ext cx="7317988" cy="36133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813" y="0"/>
            <a:ext cx="9779183" cy="851339"/>
          </a:xfrm>
        </p:spPr>
        <p:txBody>
          <a:bodyPr/>
          <a:lstStyle/>
          <a:p>
            <a:r>
              <a:rPr lang="en-IN" dirty="0"/>
              <a:t>REGRESSION ANALYSIS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BA34351-9D9C-8C32-5CC0-3F19A1CAC037}"/>
                  </a:ext>
                </a:extLst>
              </p:cNvPr>
              <p:cNvSpPr>
                <a:spLocks noGrp="1"/>
              </p:cNvSpPr>
              <p:nvPr>
                <p:ph idx="12"/>
              </p:nvPr>
            </p:nvSpPr>
            <p:spPr>
              <a:xfrm>
                <a:off x="0" y="983152"/>
                <a:ext cx="7777316" cy="33321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b="1" dirty="0"/>
                  <a:t>Regression Model</a:t>
                </a:r>
              </a:p>
              <a:p>
                <a:pPr marL="0" indent="0">
                  <a:buNone/>
                </a:pPr>
                <a:r>
                  <a:rPr lang="en-IN" dirty="0"/>
                  <a:t>Regression equation developed using Excel:</a:t>
                </a:r>
              </a:p>
              <a:p>
                <a:pPr marL="0" indent="0">
                  <a:buNone/>
                </a:pPr>
                <a:endParaRPr lang="en-IN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𝑆𝑎𝑙𝑒𝑠</m:t>
                      </m:r>
                      <m:r>
                        <a:rPr lang="en-IN"/>
                        <m:t>=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55</m:t>
                      </m:r>
                      <m:r>
                        <a:rPr lang="en-IN"/>
                        <m:t>+</m:t>
                      </m:r>
                      <m:r>
                        <a:rPr lang="en-IN"/>
                        <m:t>0</m:t>
                      </m:r>
                      <m:r>
                        <a:rPr lang="en-IN"/>
                        <m:t>.</m:t>
                      </m:r>
                      <m:r>
                        <a:rPr lang="en-IN"/>
                        <m:t>049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𝑀𝑎𝑟𝑘𝑒𝑡𝑖𝑛𝑔</m:t>
                          </m:r>
                          <m:r>
                            <m:rPr>
                              <m:nor/>
                            </m:rPr>
                            <a:rPr lang="ar-AE" i="1"/>
                            <m:t> </m:t>
                          </m:r>
                          <m:r>
                            <a:rPr lang="ar-AE" i="1"/>
                            <m:t>𝑆𝑝𝑒𝑛𝑑</m:t>
                          </m:r>
                        </m:e>
                      </m:d>
                      <m:r>
                        <a:rPr lang="ar-AE"/>
                        <m:t>−</m:t>
                      </m:r>
                      <m:r>
                        <a:rPr lang="ar-AE"/>
                        <m:t>1</m:t>
                      </m:r>
                      <m:r>
                        <a:rPr lang="ar-AE"/>
                        <m:t>.</m:t>
                      </m:r>
                      <m:r>
                        <a:rPr lang="ar-AE"/>
                        <m:t>16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𝑃𝑟𝑖𝑐𝑒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BA34351-9D9C-8C32-5CC0-3F19A1CAC0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2"/>
              </p:nvPr>
            </p:nvSpPr>
            <p:spPr>
              <a:xfrm>
                <a:off x="0" y="983152"/>
                <a:ext cx="7777316" cy="3332162"/>
              </a:xfrm>
              <a:blipFill>
                <a:blip r:embed="rId3"/>
                <a:stretch>
                  <a:fillRect l="-784" t="-18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83C7BD-F78E-6613-347B-7CF11702BC9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440069" y="982482"/>
            <a:ext cx="4663440" cy="3332832"/>
          </a:xfrm>
        </p:spPr>
        <p:txBody>
          <a:bodyPr/>
          <a:lstStyle/>
          <a:p>
            <a:r>
              <a:rPr lang="en-US" b="1" dirty="0"/>
              <a:t>Interpretation</a:t>
            </a:r>
          </a:p>
          <a:p>
            <a:r>
              <a:rPr lang="en-US" dirty="0"/>
              <a:t>Increase in marketing spend increases sales. </a:t>
            </a:r>
          </a:p>
          <a:p>
            <a:r>
              <a:rPr lang="en-US" dirty="0"/>
              <a:t>Increase in price slightly reduces sales.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8A261B-5BD6-4C67-0606-E2C853A63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7495" y="2443575"/>
            <a:ext cx="9172556" cy="43161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F58C-138C-55F4-DA77-4C3F06C8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884" y="163630"/>
            <a:ext cx="10643508" cy="762914"/>
          </a:xfrm>
        </p:spPr>
        <p:txBody>
          <a:bodyPr/>
          <a:lstStyle/>
          <a:p>
            <a:r>
              <a:rPr lang="en-IN" dirty="0"/>
              <a:t>TREND ANALYSIS &amp; FORECASTING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DDE7C-335B-FD23-E1E6-CDCB99B7878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0" y="2652713"/>
            <a:ext cx="4851133" cy="395456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Trend Analysis</a:t>
            </a:r>
          </a:p>
          <a:p>
            <a:r>
              <a:rPr lang="en-US" dirty="0"/>
              <a:t>A line chart and trendline were used to </a:t>
            </a:r>
            <a:r>
              <a:rPr lang="en-US" dirty="0" err="1"/>
              <a:t>analyse</a:t>
            </a:r>
            <a:r>
              <a:rPr lang="en-US" dirty="0"/>
              <a:t> sales movement over time.</a:t>
            </a:r>
          </a:p>
          <a:p>
            <a:r>
              <a:rPr lang="en-US" dirty="0"/>
              <a:t>The trendline forecast was extended for:</a:t>
            </a:r>
          </a:p>
          <a:p>
            <a:r>
              <a:rPr lang="en-US" dirty="0"/>
              <a:t>Next month </a:t>
            </a:r>
          </a:p>
          <a:p>
            <a:r>
              <a:rPr lang="en-US" dirty="0"/>
              <a:t>Next quarter </a:t>
            </a:r>
          </a:p>
          <a:p>
            <a:r>
              <a:rPr lang="en-US" dirty="0"/>
              <a:t>Next year</a:t>
            </a:r>
          </a:p>
          <a:p>
            <a:r>
              <a:rPr lang="en-US" b="1" dirty="0"/>
              <a:t>Forecast Observation</a:t>
            </a:r>
          </a:p>
          <a:p>
            <a:r>
              <a:rPr lang="en-US" dirty="0"/>
              <a:t>“Sales are expected to continue increasing in future periods based on historical trends.”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01B77-2D83-CDB9-BA3B-D252159C4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756" y="2562727"/>
            <a:ext cx="3477110" cy="4044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52C1DC-E6F8-2A1F-D3C3-28A62E1F7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866" y="2562727"/>
            <a:ext cx="4419064" cy="404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3" y="110690"/>
            <a:ext cx="9692640" cy="1371600"/>
          </a:xfrm>
        </p:spPr>
        <p:txBody>
          <a:bodyPr/>
          <a:lstStyle/>
          <a:p>
            <a:r>
              <a:rPr lang="en-IN" dirty="0"/>
              <a:t>KEY INSIGHTS &amp; RECOMMENDATIONS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E9A705-E123-1C6C-EC93-CEE377B741C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0" y="2087561"/>
            <a:ext cx="3860799" cy="3890543"/>
          </a:xfrm>
        </p:spPr>
        <p:txBody>
          <a:bodyPr/>
          <a:lstStyle/>
          <a:p>
            <a:r>
              <a:rPr lang="en-US" b="1" dirty="0"/>
              <a:t>Insights</a:t>
            </a:r>
          </a:p>
          <a:p>
            <a:r>
              <a:rPr lang="en-US" b="1" dirty="0"/>
              <a:t>Insight 1</a:t>
            </a:r>
          </a:p>
          <a:p>
            <a:r>
              <a:rPr lang="en-US" dirty="0"/>
              <a:t>Marketing spend strongly impacts sales growth.</a:t>
            </a:r>
          </a:p>
          <a:p>
            <a:r>
              <a:rPr lang="en-US" b="1" dirty="0"/>
              <a:t>Insight 2</a:t>
            </a:r>
          </a:p>
          <a:p>
            <a:r>
              <a:rPr lang="en-US" dirty="0"/>
              <a:t>Price changes have relatively lower influence on demand.</a:t>
            </a:r>
          </a:p>
          <a:p>
            <a:r>
              <a:rPr lang="en-US" b="1" dirty="0"/>
              <a:t>Insight 3</a:t>
            </a:r>
          </a:p>
          <a:p>
            <a:r>
              <a:rPr lang="en-US" dirty="0"/>
              <a:t>Sales show a stable upward trend indicating market growth potential.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7FF01-1376-2E7D-5A60-BB4A43711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5650" y="1923934"/>
            <a:ext cx="7699676" cy="3890543"/>
          </a:xfrm>
        </p:spPr>
        <p:txBody>
          <a:bodyPr/>
          <a:lstStyle/>
          <a:p>
            <a:r>
              <a:rPr lang="en-IN" b="1" dirty="0"/>
              <a:t>RECOMMENDATIONS: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Increase marketing investments during high-demand periods.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Avoid excessive price increases.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Use forecasting for inventory planning.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Focus on high-performing products/SKUs.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Continue data-driven decision making</a:t>
            </a:r>
            <a:endParaRPr lang="en-IN" sz="2400" dirty="0"/>
          </a:p>
        </p:txBody>
      </p:sp>
      <p:pic>
        <p:nvPicPr>
          <p:cNvPr id="10" name="Graphic 9" descr="Presentation with checklist outline">
            <a:extLst>
              <a:ext uri="{FF2B5EF4-FFF2-40B4-BE49-F238E27FC236}">
                <a16:creationId xmlns:a16="http://schemas.microsoft.com/office/drawing/2014/main" id="{847D14B8-64EA-3EF8-D0A0-2AAFF1FE3C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8100" y="543427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00FF-6B42-7D84-7831-AACC4E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9489" y="457199"/>
            <a:ext cx="5943599" cy="1920240"/>
          </a:xfrm>
        </p:spPr>
        <p:txBody>
          <a:bodyPr anchor="b">
            <a:normAutofit/>
          </a:bodyPr>
          <a:lstStyle/>
          <a:p>
            <a:r>
              <a:rPr lang="en-IN" dirty="0"/>
              <a:t>CONCLUSION</a:t>
            </a:r>
            <a:endParaRPr lang="en-US" dirty="0"/>
          </a:p>
        </p:txBody>
      </p:sp>
      <p:pic>
        <p:nvPicPr>
          <p:cNvPr id="5" name="Content Placeholder 4" descr="Good Idea with solid fill">
            <a:extLst>
              <a:ext uri="{FF2B5EF4-FFF2-40B4-BE49-F238E27FC236}">
                <a16:creationId xmlns:a16="http://schemas.microsoft.com/office/drawing/2014/main" id="{6FC920B2-4FC8-DE88-910D-13479CBBDE9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069" y="557529"/>
            <a:ext cx="4297680" cy="429768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677879" y="2377439"/>
            <a:ext cx="6998092" cy="2820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The project successfully applied quantitative techniques such as:</a:t>
            </a:r>
          </a:p>
          <a:p>
            <a:r>
              <a:rPr lang="en-US" sz="1800" dirty="0"/>
              <a:t>Correlation </a:t>
            </a:r>
          </a:p>
          <a:p>
            <a:r>
              <a:rPr lang="en-US" sz="1800" dirty="0"/>
              <a:t>Regression </a:t>
            </a:r>
          </a:p>
          <a:p>
            <a:r>
              <a:rPr lang="en-US" sz="1800" dirty="0"/>
              <a:t>Forecasting </a:t>
            </a:r>
          </a:p>
          <a:p>
            <a:r>
              <a:rPr lang="en-US" sz="1800" dirty="0"/>
              <a:t>Trend analysis </a:t>
            </a:r>
          </a:p>
          <a:p>
            <a:pPr marL="0" indent="0">
              <a:buNone/>
            </a:pPr>
            <a:r>
              <a:rPr lang="en-US" sz="1800" dirty="0"/>
              <a:t>The analysis showed that marketing expenditure significantly affects sales and the regression model can be effectively used for future demand prediction.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59</TotalTime>
  <Words>554</Words>
  <Application>Microsoft Office PowerPoint</Application>
  <PresentationFormat>Widescreen</PresentationFormat>
  <Paragraphs>135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Tenorite</vt:lpstr>
      <vt:lpstr>Custom</vt:lpstr>
      <vt:lpstr>Sales Forecasting and Data Analysis using Regression and Correlation in Excel</vt:lpstr>
      <vt:lpstr>Agenda</vt:lpstr>
      <vt:lpstr>INTRODUCTION</vt:lpstr>
      <vt:lpstr>Objectives of the Study</vt:lpstr>
      <vt:lpstr>Dataset Description and Problem Statement</vt:lpstr>
      <vt:lpstr>DATA CLEANING USING BOX &amp; WHISKER PLOT</vt:lpstr>
      <vt:lpstr>CORRELATION ANALYSIS</vt:lpstr>
      <vt:lpstr>REGRESSION ANALYSIS</vt:lpstr>
      <vt:lpstr>TREND ANALYSIS &amp; FORECASTING</vt:lpstr>
      <vt:lpstr>KEY INSIGHTS &amp; RECOMMENDATIONS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Aarav Gupta</dc:creator>
  <cp:lastModifiedBy>Aarav Gupta</cp:lastModifiedBy>
  <cp:revision>1</cp:revision>
  <dcterms:created xsi:type="dcterms:W3CDTF">2026-05-06T09:53:12Z</dcterms:created>
  <dcterms:modified xsi:type="dcterms:W3CDTF">2026-05-06T10:52:19Z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